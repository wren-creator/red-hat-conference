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7" r:id="rId2"/>
    <p:sldId id="259" r:id="rId3"/>
    <p:sldId id="274" r:id="rId4"/>
    <p:sldId id="260" r:id="rId5"/>
    <p:sldId id="268" r:id="rId6"/>
    <p:sldId id="267" r:id="rId7"/>
    <p:sldId id="269" r:id="rId8"/>
    <p:sldId id="271" r:id="rId9"/>
    <p:sldId id="270" r:id="rId10"/>
    <p:sldId id="273" r:id="rId11"/>
    <p:sldId id="272" r:id="rId12"/>
    <p:sldId id="265" r:id="rId13"/>
  </p:sldIdLst>
  <p:sldSz cx="12192000" cy="6858000"/>
  <p:notesSz cx="6858000" cy="9144000"/>
  <p:embeddedFontLst>
    <p:embeddedFont>
      <p:font typeface="Red Hat Display" panose="020B0604020202020204" charset="0"/>
      <p:regular r:id="rId15"/>
      <p:bold r:id="rId16"/>
      <p:italic r:id="rId17"/>
      <p:boldItalic r:id="rId18"/>
    </p:embeddedFont>
    <p:embeddedFont>
      <p:font typeface="Red Hat Text" panose="020B0604020202020204" charset="0"/>
      <p:regular r:id="rId19"/>
      <p:bold r:id="rId20"/>
      <p:italic r:id="rId21"/>
      <p:boldItalic r:id="rId22"/>
    </p:embeddedFont>
    <p:embeddedFont>
      <p:font typeface="Red Hat Tex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3c7dea7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3c7dea7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3c7dea77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3c7dea77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B119011-D954-CE1B-35F6-E0E326A8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b2807aff_1_42:notes">
            <a:extLst>
              <a:ext uri="{FF2B5EF4-FFF2-40B4-BE49-F238E27FC236}">
                <a16:creationId xmlns:a16="http://schemas.microsoft.com/office/drawing/2014/main" id="{AF54993E-7E68-E58C-69C2-1584AD55F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b2807aff_1_42:notes">
            <a:extLst>
              <a:ext uri="{FF2B5EF4-FFF2-40B4-BE49-F238E27FC236}">
                <a16:creationId xmlns:a16="http://schemas.microsoft.com/office/drawing/2014/main" id="{F03B4FD0-396C-BC90-35C8-ADCD27BD4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064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b2807aff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b2807aff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A1C4EFF-C718-78A8-96DC-5D4E35E0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3c7dea772_0_7:notes">
            <a:extLst>
              <a:ext uri="{FF2B5EF4-FFF2-40B4-BE49-F238E27FC236}">
                <a16:creationId xmlns:a16="http://schemas.microsoft.com/office/drawing/2014/main" id="{0DC90A4E-BD21-CAC4-8468-0949F35C5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3c7dea772_0_7:notes">
            <a:extLst>
              <a:ext uri="{FF2B5EF4-FFF2-40B4-BE49-F238E27FC236}">
                <a16:creationId xmlns:a16="http://schemas.microsoft.com/office/drawing/2014/main" id="{E1473743-6F25-4E69-AD9A-F63EC83B5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222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1F3C9B6-75F0-A6AE-F75E-5A40C60C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b2807aff_1_42:notes">
            <a:extLst>
              <a:ext uri="{FF2B5EF4-FFF2-40B4-BE49-F238E27FC236}">
                <a16:creationId xmlns:a16="http://schemas.microsoft.com/office/drawing/2014/main" id="{816BE23D-3473-7DA3-D247-7264659CF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b2807aff_1_42:notes">
            <a:extLst>
              <a:ext uri="{FF2B5EF4-FFF2-40B4-BE49-F238E27FC236}">
                <a16:creationId xmlns:a16="http://schemas.microsoft.com/office/drawing/2014/main" id="{71C36FAB-3AC8-82AE-C987-28E5799A6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964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16A312F-82D1-0A29-C1D4-427C3F3C4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3c7dea772_0_7:notes">
            <a:extLst>
              <a:ext uri="{FF2B5EF4-FFF2-40B4-BE49-F238E27FC236}">
                <a16:creationId xmlns:a16="http://schemas.microsoft.com/office/drawing/2014/main" id="{15C84537-26A6-D382-D890-A11CB6A90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3c7dea772_0_7:notes">
            <a:extLst>
              <a:ext uri="{FF2B5EF4-FFF2-40B4-BE49-F238E27FC236}">
                <a16:creationId xmlns:a16="http://schemas.microsoft.com/office/drawing/2014/main" id="{FB9C56B1-67BC-69CF-D797-3B14B245C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063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011DA84-DB70-C8D6-C706-B303DF02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b2807aff_1_42:notes">
            <a:extLst>
              <a:ext uri="{FF2B5EF4-FFF2-40B4-BE49-F238E27FC236}">
                <a16:creationId xmlns:a16="http://schemas.microsoft.com/office/drawing/2014/main" id="{50A6C9A7-545A-A24A-A2B0-97893E085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b2807aff_1_42:notes">
            <a:extLst>
              <a:ext uri="{FF2B5EF4-FFF2-40B4-BE49-F238E27FC236}">
                <a16:creationId xmlns:a16="http://schemas.microsoft.com/office/drawing/2014/main" id="{78D2C3D1-0B89-6EA0-F430-F0C8CCB94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094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0556825-997D-667D-88A5-DCF2D4D0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3c7dea772_0_7:notes">
            <a:extLst>
              <a:ext uri="{FF2B5EF4-FFF2-40B4-BE49-F238E27FC236}">
                <a16:creationId xmlns:a16="http://schemas.microsoft.com/office/drawing/2014/main" id="{DD57EB42-9036-9434-87C8-046CFD31B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3c7dea772_0_7:notes">
            <a:extLst>
              <a:ext uri="{FF2B5EF4-FFF2-40B4-BE49-F238E27FC236}">
                <a16:creationId xmlns:a16="http://schemas.microsoft.com/office/drawing/2014/main" id="{BA10647E-9EDB-2D4C-2CB9-4053EAB26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909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D3A5E63C-92B3-053A-5A60-68D3333A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1b2807aff_1_42:notes">
            <a:extLst>
              <a:ext uri="{FF2B5EF4-FFF2-40B4-BE49-F238E27FC236}">
                <a16:creationId xmlns:a16="http://schemas.microsoft.com/office/drawing/2014/main" id="{E59A2D24-A723-AA33-F47C-497563940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1b2807aff_1_42:notes">
            <a:extLst>
              <a:ext uri="{FF2B5EF4-FFF2-40B4-BE49-F238E27FC236}">
                <a16:creationId xmlns:a16="http://schemas.microsoft.com/office/drawing/2014/main" id="{56789DDF-6600-2C67-9803-55281522E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726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A42ABE-5658-8831-E4A0-EF564C55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3c7dea772_0_7:notes">
            <a:extLst>
              <a:ext uri="{FF2B5EF4-FFF2-40B4-BE49-F238E27FC236}">
                <a16:creationId xmlns:a16="http://schemas.microsoft.com/office/drawing/2014/main" id="{D373D0C1-00D1-AB1E-6549-9932D5DE6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3c7dea772_0_7:notes">
            <a:extLst>
              <a:ext uri="{FF2B5EF4-FFF2-40B4-BE49-F238E27FC236}">
                <a16:creationId xmlns:a16="http://schemas.microsoft.com/office/drawing/2014/main" id="{6DF22347-7E7B-7E42-66A8-BF380B740F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295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34bf4836e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34bf4836e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 - Open Slide - Light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2400"/>
              <a:buNone/>
              <a:defRPr sz="2400">
                <a:solidFill>
                  <a:srgbClr val="1D0C3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D0C35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+AF - Open Slide - Ligh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2400"/>
              <a:buNone/>
              <a:defRPr sz="2400">
                <a:solidFill>
                  <a:srgbClr val="1D0C3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D0C35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2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3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+AF - Open Slide - Dark">
  <p:cSld name="TITLE_3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- Light #1">
  <p:cSld name="CUSTOM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subTitle" idx="1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000"/>
              <a:buFont typeface="Red Hat Text Medium"/>
              <a:buNone/>
              <a:defRPr sz="10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spcFirstLastPara="1" wrap="square" lIns="43890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- Light #2">
  <p:cSld name="CUSTOM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000"/>
              <a:buFont typeface="Red Hat Text Medium"/>
              <a:buNone/>
              <a:defRPr sz="10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spcFirstLastPara="1" wrap="square" lIns="43890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 - Summit - Closing Slide - White">
  <p:cSld name="CUSTOM_2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rgbClr val="1D0C3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42" name="Google Shape;4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3278" y="4027839"/>
            <a:ext cx="388044" cy="38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0" title="youtube-share-ico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6328" y="4048458"/>
            <a:ext cx="388045" cy="38804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/>
        </p:nvSpPr>
        <p:spPr>
          <a:xfrm>
            <a:off x="1695378" y="4768065"/>
            <a:ext cx="150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@redhatsummit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Google Shape;45;p10"/>
          <p:cNvSpPr txBox="1"/>
          <p:nvPr/>
        </p:nvSpPr>
        <p:spPr>
          <a:xfrm>
            <a:off x="5298998" y="4119852"/>
            <a:ext cx="3027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46" name="Google Shape;46;p10" title="Icon-Social_and_external-X-Square-Black_and_white-RGB.Medium_icon_transpar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75" y="4690588"/>
            <a:ext cx="388050" cy="3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"/>
          <p:cNvSpPr txBox="1"/>
          <p:nvPr/>
        </p:nvSpPr>
        <p:spPr>
          <a:xfrm>
            <a:off x="1695372" y="4069077"/>
            <a:ext cx="2693400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48" name="Google Shape;4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6323" y="4690606"/>
            <a:ext cx="388050" cy="3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/>
        </p:nvSpPr>
        <p:spPr>
          <a:xfrm>
            <a:off x="5298994" y="4745277"/>
            <a:ext cx="1293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 b="1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+AF - Summit - Closing Slide - White">
  <p:cSld name="CUSTOM_2_1_1_1_1_1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rgbClr val="1D0C3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3278" y="4027839"/>
            <a:ext cx="388044" cy="38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1" title="youtube-share-ico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6328" y="4048458"/>
            <a:ext cx="388045" cy="38804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/>
          <p:nvPr/>
        </p:nvSpPr>
        <p:spPr>
          <a:xfrm>
            <a:off x="1695378" y="4768065"/>
            <a:ext cx="150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@redhatsummit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11"/>
          <p:cNvSpPr txBox="1"/>
          <p:nvPr/>
        </p:nvSpPr>
        <p:spPr>
          <a:xfrm>
            <a:off x="5298998" y="4119852"/>
            <a:ext cx="3027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" name="Google Shape;56;p11" title="Icon-Social_and_external-X-Square-Black_and_white-RGB.Medium_icon_transpar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75" y="4690588"/>
            <a:ext cx="388050" cy="3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/>
          <p:nvPr/>
        </p:nvSpPr>
        <p:spPr>
          <a:xfrm>
            <a:off x="1695372" y="4069077"/>
            <a:ext cx="2693400" cy="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r>
              <a:rPr lang="en" sz="1410" b="1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410" b="1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6323" y="4690606"/>
            <a:ext cx="388050" cy="3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/>
          <p:nvPr/>
        </p:nvSpPr>
        <p:spPr>
          <a:xfrm>
            <a:off x="5298994" y="4745277"/>
            <a:ext cx="1293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 b="1">
              <a:solidFill>
                <a:schemeClr val="dk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HS+AF - Summit - Closing Slide - Blue &amp; Red">
  <p:cSld name="CUSTOM_2_1_1_1_1_1_1_1_1_1_2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695375" y="4119850"/>
            <a:ext cx="28668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298998" y="4119852"/>
            <a:ext cx="28668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r>
              <a:rPr lang="en" sz="141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6" name="Google Shape;76;p13" title="Icon-Social_and_external-X-Square-White-RGB.Large_icon_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278" y="4690588"/>
            <a:ext cx="388050" cy="3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 title="Icon-Social_and_external-YouTube-Square-White-RGB.Medium_icon_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325" y="4048450"/>
            <a:ext cx="388050" cy="3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 txBox="1"/>
          <p:nvPr/>
        </p:nvSpPr>
        <p:spPr>
          <a:xfrm>
            <a:off x="5298994" y="4745277"/>
            <a:ext cx="12936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9"/>
              <a:buFont typeface="Arial"/>
              <a:buNone/>
            </a:pP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625650" y="4683775"/>
            <a:ext cx="30000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@redhatsummit</a:t>
            </a:r>
            <a:endParaRPr sz="1410" b="1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0" name="Google Shape;80;p13" title="Icon-Social_and_external-LinkedIn-Square-White-RGB.Large_icon_transpar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75" y="4065175"/>
            <a:ext cx="388050" cy="3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 title="Icon-Social_and_external-Instagram-Square-White-RGB.Large_icon_transpar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6326" y="4690600"/>
            <a:ext cx="388050" cy="3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3400"/>
              <a:buFont typeface="Red Hat Display"/>
              <a:buNone/>
              <a:defRPr sz="34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600"/>
              <a:buFont typeface="Red Hat Text"/>
              <a:buChar char="▸"/>
              <a:defRPr sz="1600"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175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175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britley-h-2a42981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ldefense.com/v3/__https:/ollama.com/install.sh__;!!MfIcbwNr!uRL9Rc1_xz_NRVt1t6LDsKIVL2sxnAjWMunQWTZbH7OKdvH0fYclQU3Xgj_tDGRpu0j3cB3l77l6ZHhp1ble7tG5$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ren-creator/red-hat-conference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subTitle" idx="1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Britley</a:t>
            </a:r>
            <a:r>
              <a:rPr lang="en-US" dirty="0"/>
              <a:t> </a:t>
            </a:r>
            <a:r>
              <a:rPr lang="en-US" b="1" i="1" dirty="0"/>
              <a:t>Hoff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Technology Owner zLinux </a:t>
            </a:r>
            <a:r>
              <a:rPr lang="en-US" b="1" dirty="0">
                <a:solidFill>
                  <a:srgbClr val="0070C0"/>
                </a:solidFill>
              </a:rPr>
              <a:t>BCBSSC</a:t>
            </a:r>
          </a:p>
          <a:p>
            <a:pPr marL="0" indent="0"/>
            <a:r>
              <a:rPr lang="en-US" dirty="0"/>
              <a:t>Sovereign AI advocate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</a:rPr>
              <a:t>.</a:t>
            </a:r>
            <a:br>
              <a:rPr lang="en-US" b="1" dirty="0">
                <a:solidFill>
                  <a:srgbClr val="0070C0"/>
                </a:solidFill>
              </a:rPr>
            </a:br>
            <a:endParaRPr b="1" dirty="0">
              <a:solidFill>
                <a:srgbClr val="0070C0"/>
              </a:solidFill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2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3"/>
          </p:nvPr>
        </p:nvSpPr>
        <p:spPr>
          <a:xfrm>
            <a:off x="4743303" y="5038609"/>
            <a:ext cx="4738213" cy="45640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hlinkClick r:id="rId3"/>
              </a:rPr>
              <a:t>My LinkedIn Profile</a:t>
            </a:r>
            <a:endParaRPr sz="1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B35083-061C-FD8E-88E4-FCE874E8E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6313" y="2517109"/>
            <a:ext cx="7534275" cy="103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LT1670 – Leveraging Machine Learning for Multi-Script to Ansible Conversion.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FBB80-369A-A9A2-B43B-4404BDF66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3" y="4842979"/>
            <a:ext cx="1527044" cy="1728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spcFirstLastPara="1" wrap="square" lIns="4389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B4315-5D7D-E879-CEE1-174ECA2D32DA}"/>
              </a:ext>
            </a:extLst>
          </p:cNvPr>
          <p:cNvSpPr txBox="1"/>
          <p:nvPr/>
        </p:nvSpPr>
        <p:spPr>
          <a:xfrm>
            <a:off x="293030" y="612844"/>
            <a:ext cx="88063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Legacy scripts are the silent killers of infrastructure scalability. To modernize, you need a bridge from procedural Bash to declarative Ansible.</a:t>
            </a:r>
          </a:p>
          <a:p>
            <a:pPr marL="0" marR="0">
              <a:buNone/>
            </a:pPr>
            <a:endParaRPr lang="en-US" sz="24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This lightning talk explores the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AI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approach to modernization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of those Legacy scripts.</a:t>
            </a:r>
          </a:p>
          <a:p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We will be using the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sovereign approach of using </a:t>
            </a: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RHEL 10, </a:t>
            </a:r>
            <a:r>
              <a:rPr lang="en-US" sz="24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Ollama</a:t>
            </a: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and Llama LLMs.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While this will be the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primary discussion, but we could use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the enterprise-grade </a:t>
            </a:r>
            <a:r>
              <a:rPr lang="en-US" sz="2400" b="1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Ansible Lightspeed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service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Learn how to serve your own conversion models on-prem to maintain data privacy while rapidly refactoring legacy logic into idempotent playbooks. Whether you choose the cloud-connected convenience of Lightspeed or a local Llama instance, the era of manual script translation is over.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79CA76B-D1C7-F5D0-B00B-F3B482E7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FAE4C70-4B68-6891-9A27-5FE94FF6A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29" y="759656"/>
            <a:ext cx="7869216" cy="426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165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subTitle" idx="1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spcFirstLastPara="1" wrap="square" lIns="4389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EB0B7-2A7C-7856-8794-B977DC9F32F9}"/>
              </a:ext>
            </a:extLst>
          </p:cNvPr>
          <p:cNvSpPr txBox="1"/>
          <p:nvPr/>
        </p:nvSpPr>
        <p:spPr>
          <a:xfrm>
            <a:off x="447775" y="1589649"/>
            <a:ext cx="10764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cs typeface="Aptos" panose="020B0004020202020204" pitchFamily="34" charset="0"/>
              </a:rPr>
              <a:t>The Enterprise Path: Ansible Lightspeed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Best for:</a:t>
            </a:r>
            <a:r>
              <a:rPr lang="en-US" sz="2400" dirty="0">
                <a:effectLst/>
              </a:rPr>
              <a:t> Corporate compliance, team collaboration, and certified content.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Mechanism:</a:t>
            </a:r>
            <a:r>
              <a:rPr lang="en-US" sz="2400" dirty="0">
                <a:effectLst/>
              </a:rPr>
              <a:t> Uses IBM </a:t>
            </a:r>
            <a:r>
              <a:rPr lang="en-US" sz="2400" dirty="0" err="1">
                <a:effectLst/>
              </a:rPr>
              <a:t>watsonx</a:t>
            </a:r>
            <a:r>
              <a:rPr lang="en-US" sz="2400" dirty="0">
                <a:effectLst/>
              </a:rPr>
              <a:t> Code Assistant.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Workflow:</a:t>
            </a:r>
            <a:r>
              <a:rPr lang="en-US" sz="2400" dirty="0">
                <a:effectLst/>
              </a:rPr>
              <a:t> You type a comment in VS Code; it suggests a full, high-quality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7FF62C-0503-5698-2CED-2B01C316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B6D954-6003-CD55-25FD-7FE4F77F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0B69A-67FC-2000-7B2E-CFC40E8F9F92}"/>
              </a:ext>
            </a:extLst>
          </p:cNvPr>
          <p:cNvSpPr txBox="1"/>
          <p:nvPr/>
        </p:nvSpPr>
        <p:spPr>
          <a:xfrm>
            <a:off x="295422" y="1666167"/>
            <a:ext cx="105226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cs typeface="Aptos" panose="020B0004020202020204" pitchFamily="34" charset="0"/>
              </a:rPr>
              <a:t>The Sovereign Path: RHEL 10 + </a:t>
            </a:r>
            <a:r>
              <a:rPr lang="en-US" sz="2400" b="1" dirty="0" err="1">
                <a:effectLst/>
                <a:latin typeface="Aptos" panose="020B0004020202020204" pitchFamily="34" charset="0"/>
                <a:cs typeface="Aptos" panose="020B0004020202020204" pitchFamily="34" charset="0"/>
              </a:rPr>
              <a:t>Ollama</a:t>
            </a:r>
            <a:endParaRPr lang="en-US" sz="2400" b="1" dirty="0">
              <a:effectLst/>
              <a:latin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Best for:</a:t>
            </a:r>
            <a:r>
              <a:rPr lang="en-US" sz="2400" dirty="0">
                <a:effectLst/>
              </a:rPr>
              <a:t> Air-gapped environments, high privacy, or cost-saving on API tokens.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Mechanism:</a:t>
            </a:r>
            <a:r>
              <a:rPr lang="en-US" sz="2400" dirty="0">
                <a:effectLst/>
              </a:rPr>
              <a:t> Running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ollama</a:t>
            </a:r>
            <a:r>
              <a:rPr lang="en-US" sz="2400" dirty="0">
                <a:effectLst/>
              </a:rPr>
              <a:t> as a </a:t>
            </a:r>
            <a:r>
              <a:rPr lang="en-US" sz="2400" dirty="0" err="1">
                <a:effectLst/>
              </a:rPr>
              <a:t>systemd</a:t>
            </a:r>
            <a:r>
              <a:rPr lang="en-US" sz="2400" dirty="0">
                <a:effectLst/>
              </a:rPr>
              <a:t> service on RHEL 10.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</a:rPr>
              <a:t>Workflow:</a:t>
            </a:r>
            <a:endParaRPr lang="en-US" sz="2400" dirty="0">
              <a:effectLst/>
            </a:endParaRPr>
          </a:p>
          <a:p>
            <a:pPr marL="742950" lvl="1" indent="-285750">
              <a:buFont typeface="+mj-lt"/>
              <a:buAutoNum type="arabicPeriod"/>
              <a:tabLst>
                <a:tab pos="914400" algn="l"/>
              </a:tabLst>
            </a:pPr>
            <a:r>
              <a:rPr lang="en-US" sz="2400" b="1" dirty="0">
                <a:effectLst/>
              </a:rPr>
              <a:t>Install:</a:t>
            </a:r>
            <a:r>
              <a:rPr lang="en-US" sz="2400" dirty="0">
                <a:effectLst/>
              </a:rPr>
              <a:t> </a:t>
            </a:r>
            <a:r>
              <a:rPr lang="en-US" sz="2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curl -</a:t>
            </a:r>
            <a:r>
              <a:rPr lang="en-US" sz="24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fsSL</a:t>
            </a:r>
            <a:r>
              <a:rPr lang="en-US" sz="2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</a:t>
            </a:r>
            <a:r>
              <a:rPr lang="en-US" sz="2400" u="sng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  <a:hlinkClick r:id="rId3"/>
              </a:rPr>
              <a:t>https://ollama.com/install.sh [ollama.com]</a:t>
            </a:r>
            <a:r>
              <a:rPr lang="en-US" sz="2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|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sh</a:t>
            </a:r>
            <a:endParaRPr lang="en-US" sz="2400" dirty="0">
              <a:effectLst/>
            </a:endParaRPr>
          </a:p>
          <a:p>
            <a:pPr marL="742950" lvl="1" indent="-285750">
              <a:buFont typeface="+mj-lt"/>
              <a:buAutoNum type="arabicPeriod"/>
              <a:tabLst>
                <a:tab pos="914400" algn="l"/>
              </a:tabLst>
            </a:pPr>
            <a:r>
              <a:rPr lang="en-US" sz="2400" b="1" dirty="0">
                <a:effectLst/>
              </a:rPr>
              <a:t>Run: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ollama</a:t>
            </a:r>
            <a:r>
              <a:rPr lang="en-US" sz="2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pull</a:t>
            </a:r>
            <a:r>
              <a:rPr lang="en-US" sz="2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 llama3.3</a:t>
            </a:r>
            <a:r>
              <a:rPr lang="en-US" sz="2400" dirty="0">
                <a:effectLst/>
              </a:rPr>
              <a:t> (or the latest 2026-equivalent)</a:t>
            </a:r>
          </a:p>
        </p:txBody>
      </p:sp>
    </p:spTree>
    <p:extLst>
      <p:ext uri="{BB962C8B-B14F-4D97-AF65-F5344CB8AC3E}">
        <p14:creationId xmlns:p14="http://schemas.microsoft.com/office/powerpoint/2010/main" val="271469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AE73A7B-6331-5503-31B9-F782A14F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>
            <a:extLst>
              <a:ext uri="{FF2B5EF4-FFF2-40B4-BE49-F238E27FC236}">
                <a16:creationId xmlns:a16="http://schemas.microsoft.com/office/drawing/2014/main" id="{609DC752-BCFC-3BE2-0921-148CA1FA9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8A860095-C7A2-39D9-6DF7-F50F1D1F4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spcFirstLastPara="1" wrap="square" lIns="4389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3C5C83-8590-301C-3CEF-6C53CFEED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604884"/>
              </p:ext>
            </p:extLst>
          </p:nvPr>
        </p:nvGraphicFramePr>
        <p:xfrm>
          <a:off x="415925" y="1688125"/>
          <a:ext cx="11360151" cy="35028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86717">
                  <a:extLst>
                    <a:ext uri="{9D8B030D-6E8A-4147-A177-3AD203B41FA5}">
                      <a16:colId xmlns:a16="http://schemas.microsoft.com/office/drawing/2014/main" val="2131014392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225217621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2414390025"/>
                    </a:ext>
                  </a:extLst>
                </a:gridCol>
              </a:tblGrid>
              <a:tr h="51499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Ansible Lightspeed</a:t>
                      </a:r>
                      <a:endParaRPr lang="en-US" sz="20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RHEL 10 + Ollama</a:t>
                      </a:r>
                      <a:endParaRPr lang="en-US" sz="20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9693017"/>
                  </a:ext>
                </a:extLst>
              </a:tr>
              <a:tr h="74696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Connectivity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SaaS (Connected)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Local (Offline)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425021"/>
                  </a:ext>
                </a:extLst>
              </a:tr>
              <a:tr h="74696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Hardware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Cloud-based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Local GPU/NPU (NVIDIA/AMD)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882477"/>
                  </a:ext>
                </a:extLst>
              </a:tr>
              <a:tr h="74696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Training Data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Red Hat curated &amp; certified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General Purpose (Llama)</a:t>
                      </a:r>
                      <a:endParaRPr lang="en-US" sz="20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1375475"/>
                  </a:ext>
                </a:extLst>
              </a:tr>
              <a:tr h="74696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Best Use Case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Large-scale enterprise teams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Secure/Edge environments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237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36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96F64E9-EC31-B0D6-CBB3-E1CE93BF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B4405-8E5A-1943-A386-24D8C88042BC}"/>
              </a:ext>
            </a:extLst>
          </p:cNvPr>
          <p:cNvSpPr txBox="1"/>
          <p:nvPr/>
        </p:nvSpPr>
        <p:spPr>
          <a:xfrm>
            <a:off x="2289516" y="837884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(Legacy Bash)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FE598-488F-29FF-674F-E346E6119A41}"/>
              </a:ext>
            </a:extLst>
          </p:cNvPr>
          <p:cNvSpPr txBox="1"/>
          <p:nvPr/>
        </p:nvSpPr>
        <p:spPr>
          <a:xfrm>
            <a:off x="1994095" y="2240617"/>
            <a:ext cx="60983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# setup_web.sh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for server in $(cat servers.txt); do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ssh $server "yum install -y httpd"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ssh $server "echo 'Hello World' &gt; /var/www/html/index.html"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ssh $server "systemctl restart httpd"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3448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5E1DC91C-D9C0-9471-3BCA-CC86AB9B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2F1ED8-0DF8-69E4-10A8-1259D47887EE}"/>
              </a:ext>
            </a:extLst>
          </p:cNvPr>
          <p:cNvSpPr txBox="1"/>
          <p:nvPr/>
        </p:nvSpPr>
        <p:spPr>
          <a:xfrm>
            <a:off x="460717" y="359583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"Modern State" (Llama-Generated Ansible)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900C8-DD10-B715-5799-B5CCB9356E4D}"/>
              </a:ext>
            </a:extLst>
          </p:cNvPr>
          <p:cNvSpPr txBox="1"/>
          <p:nvPr/>
        </p:nvSpPr>
        <p:spPr>
          <a:xfrm>
            <a:off x="2908496" y="1225689"/>
            <a:ext cx="58978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name: Deploy Standard Web Environment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hosts: webservers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become: true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tasks: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- name: Ensure Apache is installed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ansible.builtin.dnf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name: httpd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state: present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- name: Deploy custom index.html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ansible.builtin.copy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content: "Hello World"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dest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 /var/www/html/index.html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mode: '0644'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- name: Ensure Apache is started and enabled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ansible.builtin.service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: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name: httpd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state: started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       enabled: true</a:t>
            </a:r>
          </a:p>
        </p:txBody>
      </p:sp>
    </p:spTree>
    <p:extLst>
      <p:ext uri="{BB962C8B-B14F-4D97-AF65-F5344CB8AC3E}">
        <p14:creationId xmlns:p14="http://schemas.microsoft.com/office/powerpoint/2010/main" val="411115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2098E3E-BF8F-E474-5E7C-BD48028F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0B5EDA-C68E-3713-47E3-A08A6AD8FBC7}"/>
              </a:ext>
            </a:extLst>
          </p:cNvPr>
          <p:cNvSpPr txBox="1"/>
          <p:nvPr/>
        </p:nvSpPr>
        <p:spPr>
          <a:xfrm>
            <a:off x="1375117" y="302359"/>
            <a:ext cx="60983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You can grab my custom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ollama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Modelfile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from my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gitrepo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here 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3"/>
              </a:rPr>
              <a:t>https://github.com/wren-creator/red-hat-conference.git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endParaRPr lang="en-US" sz="2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Then run </a:t>
            </a:r>
          </a:p>
          <a:p>
            <a:pPr marL="0" marR="0">
              <a:buNone/>
            </a:pP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ollama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create ansible-modernizer -f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Modelfile.ansible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 marL="0" marR="0">
              <a:buNone/>
            </a:pP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ollama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run ansible-modernizer</a:t>
            </a: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or </a:t>
            </a: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en-US" sz="20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cat legacy_script.sh | </a:t>
            </a:r>
            <a:r>
              <a:rPr lang="en-US" sz="2000" kern="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ollama</a:t>
            </a:r>
            <a:r>
              <a:rPr lang="en-US" sz="20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run ansible-modernizer &gt; </a:t>
            </a:r>
            <a:r>
              <a:rPr lang="en-US" sz="2000" kern="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new_playbook.yml</a:t>
            </a:r>
            <a:endParaRPr lang="en-US" sz="2000" kern="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ptos" panose="020B0004020202020204" pitchFamily="34" charset="0"/>
              </a:rPr>
              <a:t>Or use my Modernizer-validator script also found in my </a:t>
            </a:r>
            <a:r>
              <a:rPr lang="en-US" sz="2000" dirty="0" err="1">
                <a:latin typeface="Aptos" panose="020B0004020202020204" pitchFamily="34" charset="0"/>
              </a:rPr>
              <a:t>gitrepo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  <a:hlinkClick r:id="rId3"/>
              </a:rPr>
              <a:t>https://github.com/wren-creator/red-hat-conference.git</a:t>
            </a:r>
            <a:br>
              <a:rPr lang="en-US" sz="2000" dirty="0">
                <a:latin typeface="Aptos" panose="020B0004020202020204" pitchFamily="34" charset="0"/>
              </a:rPr>
            </a:b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This script will take in a Directory of legacy scripts and convert them to Ansible playbooks and then verify with lint.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809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19E32B7-74CD-36AB-A8F3-044EDC08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9C0521-AD34-D80C-356C-7268117FBBEC}"/>
              </a:ext>
            </a:extLst>
          </p:cNvPr>
          <p:cNvSpPr txBox="1"/>
          <p:nvPr/>
        </p:nvSpPr>
        <p:spPr>
          <a:xfrm>
            <a:off x="2307102" y="914400"/>
            <a:ext cx="684041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cs typeface="Aptos" panose="020B0004020202020204" pitchFamily="34" charset="0"/>
              </a:rPr>
              <a:t>1. Kill the Legacy</a:t>
            </a: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Stop manually translating legacy Bash and Python. Use AI as your 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Rosetta Stone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to move from fragile, procedural scripts to stable, declarative Ansible playbooks.</a:t>
            </a:r>
          </a:p>
          <a:p>
            <a:pPr marL="0" marR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cs typeface="Aptos" panose="020B0004020202020204" pitchFamily="34" charset="0"/>
              </a:rPr>
              <a:t>2. Choice of Engine: SaaS or Sovereign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</a:rPr>
              <a:t>Ansible Lightspeed:</a:t>
            </a:r>
            <a:r>
              <a:rPr lang="en-US" sz="2000" dirty="0">
                <a:effectLst/>
              </a:rPr>
              <a:t> Use the enterprise-grade, IBM </a:t>
            </a:r>
            <a:r>
              <a:rPr lang="en-US" sz="2000" dirty="0" err="1">
                <a:effectLst/>
              </a:rPr>
              <a:t>watsonx</a:t>
            </a:r>
            <a:r>
              <a:rPr lang="en-US" sz="2000" dirty="0">
                <a:effectLst/>
              </a:rPr>
              <a:t>-powered service for certified content and team-wide consistency.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</a:rPr>
              <a:t>RHEL 10 + </a:t>
            </a:r>
            <a:r>
              <a:rPr lang="en-US" sz="2000" b="1" dirty="0" err="1">
                <a:effectLst/>
              </a:rPr>
              <a:t>Ollama</a:t>
            </a:r>
            <a:r>
              <a:rPr lang="en-US" sz="2000" b="1" dirty="0">
                <a:effectLst/>
              </a:rPr>
              <a:t>:</a:t>
            </a:r>
            <a:r>
              <a:rPr lang="en-US" sz="2000" dirty="0">
                <a:effectLst/>
              </a:rPr>
              <a:t> Deploy a </a:t>
            </a:r>
            <a:r>
              <a:rPr lang="en-US" sz="2000" b="1" dirty="0">
                <a:effectLst/>
              </a:rPr>
              <a:t>Sovereign AI pipeline</a:t>
            </a:r>
            <a:r>
              <a:rPr lang="en-US" sz="2000" dirty="0">
                <a:effectLst/>
              </a:rPr>
              <a:t> for air-gapped environments or sensitive internal logic using Llama models running locally on </a:t>
            </a:r>
            <a:r>
              <a:rPr lang="en-US" sz="2000" dirty="0" err="1">
                <a:effectLst/>
              </a:rPr>
              <a:t>Podman</a:t>
            </a:r>
            <a:r>
              <a:rPr lang="en-US" sz="2000" dirty="0">
                <a:effectLst/>
              </a:rPr>
              <a:t>.</a:t>
            </a:r>
          </a:p>
          <a:p>
            <a:pPr marL="0" marR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cs typeface="Aptos" panose="020B0004020202020204" pitchFamily="34" charset="0"/>
              </a:rPr>
              <a:t>3. Trust, but Lint</a:t>
            </a:r>
          </a:p>
          <a:p>
            <a:pPr marL="0" marR="0">
              <a:buNone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AI handles the heavy lifting, but 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Red Hat tooling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(like </a:t>
            </a:r>
            <a:r>
              <a:rPr lang="en-US" sz="20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ptos" panose="020B0004020202020204" pitchFamily="34" charset="0"/>
              </a:rPr>
              <a:t>ansible-lint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 provides the guardrails. A local pipeline doesn't just convert, it validates, ensuring your new automation is production-ready from second one.</a:t>
            </a:r>
          </a:p>
        </p:txBody>
      </p:sp>
    </p:spTree>
    <p:extLst>
      <p:ext uri="{BB962C8B-B14F-4D97-AF65-F5344CB8AC3E}">
        <p14:creationId xmlns:p14="http://schemas.microsoft.com/office/powerpoint/2010/main" val="325772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134302D-997B-D543-2EC1-4C0EEEBE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2F47EE-6854-B4D0-F869-2C735DABFF3F}"/>
              </a:ext>
            </a:extLst>
          </p:cNvPr>
          <p:cNvSpPr txBox="1"/>
          <p:nvPr/>
        </p:nvSpPr>
        <p:spPr>
          <a:xfrm>
            <a:off x="1181686" y="1631852"/>
            <a:ext cx="79658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goal isn't just to replace a script; it's to transform how we manage infrastructure. Whether you're using Lightspeed in the cloud or Llama on RHEL 10, you're no longer a translator, you're an architect. </a:t>
            </a:r>
          </a:p>
          <a:p>
            <a:endParaRPr lang="en-US" sz="24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en-US" sz="2400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See you at the Ansible booth!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861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791</Words>
  <Application>Microsoft Office PowerPoint</Application>
  <PresentationFormat>Widescreen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Red Hat Text</vt:lpstr>
      <vt:lpstr>Courier New</vt:lpstr>
      <vt:lpstr>Aptos</vt:lpstr>
      <vt:lpstr>Symbol</vt:lpstr>
      <vt:lpstr>Red Hat Text Medium</vt:lpstr>
      <vt:lpstr>Arial</vt:lpstr>
      <vt:lpstr>Red Hat Display</vt:lpstr>
      <vt:lpstr>Red Hat widescreen template</vt:lpstr>
      <vt:lpstr>LT1670 – Leveraging Machine Learning for Multi-Script to Ansible Conversion.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Britley Hoff</dc:creator>
  <cp:lastModifiedBy>Britley Hoff</cp:lastModifiedBy>
  <cp:revision>6</cp:revision>
  <dcterms:modified xsi:type="dcterms:W3CDTF">2026-03-05T12:17:17Z</dcterms:modified>
</cp:coreProperties>
</file>